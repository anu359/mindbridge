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346"/>
          </a:solidFill>
          <a:ln w="12700">
            <a:solidFill>
              <a:srgbClr val="1A33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365760"/>
            <a:ext cx="2560320" cy="2560320"/>
          </a:xfrm>
          <a:prstGeom prst="ellipse">
            <a:avLst/>
          </a:prstGeom>
          <a:solidFill>
            <a:srgbClr val="028090">
              <a:alpha val="15000"/>
            </a:srgbClr>
          </a:solidFill>
          <a:ln w="1905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731520"/>
            <a:ext cx="1828800" cy="18288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005840"/>
            <a:ext cx="822960" cy="822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502920"/>
            <a:ext cx="1737360" cy="27432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502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F2D"/>
                </a:solidFill>
              </a:rPr>
              <a:t>OPENAI MER  |  TRACK B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65760" y="9601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365760" y="1920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</a:rPr>
              <a:t>Emotionally Intelligent Conversational AI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65760" y="25146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AFC0"/>
                </a:solidFill>
              </a:rPr>
              <a:t>A hyper-personalized mental health support system with advanced emotion inference, persistent memory, and context-grounded retrieval.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FC0"/>
                </a:solidFill>
              </a:rPr>
              <a:t>Architecture &amp; Implementation Plan  |  Round 1 Submission  |  April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346"/>
          </a:solidFill>
          <a:ln w="12700">
            <a:solidFill>
              <a:srgbClr val="1A33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SYSTEM ARCHITECTURE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AFC0"/>
                </a:solidFill>
              </a:rPr>
              <a:t>Slide 2 /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16002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6858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Message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Intake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37944" y="1143000"/>
            <a:ext cx="3931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9384" y="1051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685800"/>
            <a:ext cx="160020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6858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Emotion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Inference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21024" y="1143000"/>
            <a:ext cx="3931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1051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94760" y="685800"/>
            <a:ext cx="1600200" cy="914400"/>
          </a:xfrm>
          <a:prstGeom prst="rect">
            <a:avLst/>
          </a:prstGeom>
          <a:solidFill>
            <a:srgbClr val="027A8B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94760" y="6858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Memory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04104" y="1143000"/>
            <a:ext cx="3931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1051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685800"/>
            <a:ext cx="1600200" cy="914400"/>
          </a:xfrm>
          <a:prstGeom prst="rect">
            <a:avLst/>
          </a:prstGeom>
          <a:solidFill>
            <a:srgbClr val="016A7B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6858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87184" y="1143000"/>
            <a:ext cx="3931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1051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60920" y="685800"/>
            <a:ext cx="160020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60920" y="6858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Safety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1874520"/>
            <a:ext cx="2743200" cy="2606040"/>
          </a:xfrm>
          <a:prstGeom prst="rect">
            <a:avLst/>
          </a:prstGeom>
          <a:solidFill>
            <a:srgbClr val="1A3346"/>
          </a:solidFill>
          <a:ln w="12700">
            <a:solidFill>
              <a:srgbClr val="024F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1874520"/>
            <a:ext cx="54864" cy="2606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0"/>
            <a:ext cx="347472" cy="34747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95528" y="1984248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Dual-Layer Emotion Engine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38328" y="2468880"/>
            <a:ext cx="2514600" cy="0"/>
          </a:xfrm>
          <a:prstGeom prst="line">
            <a:avLst/>
          </a:prstGeom>
          <a:noFill/>
          <a:ln w="6350">
            <a:solidFill>
              <a:srgbClr val="024F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8328" y="256032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Gemini 2.5 Flash primary LLM + lightweight classifier for fast emotion tagging. Detects implicit cues, sarcasm, and masked distress before routing.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00400" y="1874520"/>
            <a:ext cx="2743200" cy="2606040"/>
          </a:xfrm>
          <a:prstGeom prst="rect">
            <a:avLst/>
          </a:prstGeom>
          <a:solidFill>
            <a:srgbClr val="1A3346"/>
          </a:solidFill>
          <a:ln w="12700">
            <a:solidFill>
              <a:srgbClr val="024F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200400" y="1874520"/>
            <a:ext cx="54864" cy="2606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011680"/>
            <a:ext cx="347472" cy="3474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767328" y="1984248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Memory Store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3310128" y="2468880"/>
            <a:ext cx="2514600" cy="0"/>
          </a:xfrm>
          <a:prstGeom prst="line">
            <a:avLst/>
          </a:prstGeom>
          <a:noFill/>
          <a:ln w="6350">
            <a:solidFill>
              <a:srgbClr val="024F5E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310128" y="256032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Short-term: sliding conversation window (last 10 turns). Long-term: vector DB (FAISS) storing user entity graph, emotional history, and stated preferences.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6172200" y="1874520"/>
            <a:ext cx="2743200" cy="2606040"/>
          </a:xfrm>
          <a:prstGeom prst="rect">
            <a:avLst/>
          </a:prstGeom>
          <a:solidFill>
            <a:srgbClr val="1A3346"/>
          </a:solidFill>
          <a:ln w="12700">
            <a:solidFill>
              <a:srgbClr val="024F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172200" y="1874520"/>
            <a:ext cx="54864" cy="2606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11680"/>
            <a:ext cx="347472" cy="34747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739128" y="1984248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Grounded RAG Pipeline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281928" y="2468880"/>
            <a:ext cx="2514600" cy="0"/>
          </a:xfrm>
          <a:prstGeom prst="line">
            <a:avLst/>
          </a:prstGeom>
          <a:noFill/>
          <a:ln w="6350">
            <a:solidFill>
              <a:srgbClr val="024F5E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281928" y="256032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Semantic + keyword hybrid retrieval from curated mental health corpus (Reddit r/mentalhealth, NAMI, therapy guidelines). Re-ranker filters generic fallbacks.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346"/>
          </a:solidFill>
          <a:ln w="12700">
            <a:solidFill>
              <a:srgbClr val="1A33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MEMORY, ENTITY TRACKING &amp; PERSONALIZATION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AFC0"/>
                </a:solidFill>
              </a:rPr>
              <a:t>Slide 3 /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4160520" cy="4251960"/>
          </a:xfrm>
          <a:prstGeom prst="rect">
            <a:avLst/>
          </a:prstGeom>
          <a:solidFill>
            <a:srgbClr val="1A3346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58368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MEMORY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3977640" cy="822960"/>
          </a:xfrm>
          <a:prstGeom prst="rect">
            <a:avLst/>
          </a:prstGeom>
          <a:solidFill>
            <a:srgbClr val="142533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143000"/>
            <a:ext cx="4572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9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Working Memory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417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AFC0"/>
                </a:solidFill>
              </a:rPr>
              <a:t>In-context (last 10 turns)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581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Maintains immediate conversational coherence. Tracks pronoun references ('he said', 'that thing at work').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075688"/>
            <a:ext cx="3977640" cy="822960"/>
          </a:xfrm>
          <a:prstGeom prst="rect">
            <a:avLst/>
          </a:prstGeom>
          <a:solidFill>
            <a:srgbClr val="142533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075688"/>
            <a:ext cx="4572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12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Episodic Memory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350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AFC0"/>
                </a:solidFill>
              </a:rPr>
              <a:t>FAISS vector store (sentence-transformers)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514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Stores summarized past sessions. Retrieves relevant past disclosures when user revisits themes.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008376"/>
            <a:ext cx="3977640" cy="822960"/>
          </a:xfrm>
          <a:prstGeom prst="rect">
            <a:avLst/>
          </a:prstGeom>
          <a:solidFill>
            <a:srgbClr val="142533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008376"/>
            <a:ext cx="4572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44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Entity Graph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2826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AFC0"/>
                </a:solidFill>
              </a:rPr>
              <a:t>JSON-LD user profile updated each session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447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Tracks named people, events, and relationships. Resolves coreferences across turns and sessions.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941064"/>
            <a:ext cx="3977640" cy="822960"/>
          </a:xfrm>
          <a:prstGeom prst="rect">
            <a:avLst/>
          </a:prstGeom>
          <a:solidFill>
            <a:srgbClr val="142533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941064"/>
            <a:ext cx="4572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77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Emotional Timeline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2153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AFC0"/>
                </a:solidFill>
              </a:rPr>
              <a:t>Timestamped mood log per user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3799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Tracks emotional arc over sessions. Informs proactive check-ins and prevents contradicting prior sentiment.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658368"/>
            <a:ext cx="4297680" cy="4251960"/>
          </a:xfrm>
          <a:prstGeom prst="rect">
            <a:avLst/>
          </a:prstGeom>
          <a:solidFill>
            <a:srgbClr val="1A3346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658368"/>
            <a:ext cx="429768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658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ENTITY TRACKING &amp; PERSONALIZATION</a:t>
            </a:r>
            <a:endParaRPr lang="en-US" sz="11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115568"/>
            <a:ext cx="411480" cy="4114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212080" y="11155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Entity Extraction at Intake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709160" y="157276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Every message is NER-parsed for people, places, events, and relationships. Extracted entities are reconciled against the user's entity graph — existing nodes are updated, new ones are added.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709160" y="2432304"/>
            <a:ext cx="4114800" cy="0"/>
          </a:xfrm>
          <a:prstGeom prst="line">
            <a:avLst/>
          </a:prstGeom>
          <a:noFill/>
          <a:ln w="6350">
            <a:solidFill>
              <a:srgbClr val="024F5E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523744"/>
            <a:ext cx="411480" cy="41148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212080" y="25237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Personalization Injection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4709160" y="298094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Relevant memories and entity facts are injected into the LLM system prompt as a dynamic context block. This ensures every response references this specific user's disclosed history, not a generic profile.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709160" y="3794760"/>
            <a:ext cx="4114800" cy="0"/>
          </a:xfrm>
          <a:prstGeom prst="line">
            <a:avLst/>
          </a:prstGeom>
          <a:noFill/>
          <a:ln w="6350">
            <a:solidFill>
              <a:srgbClr val="024F5E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09160" y="3858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Continuity Example: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4709160" y="4114800"/>
            <a:ext cx="4160520" cy="685800"/>
          </a:xfrm>
          <a:prstGeom prst="rect">
            <a:avLst/>
          </a:prstGeom>
          <a:solidFill>
            <a:srgbClr val="142533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800600" y="41605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C39A"/>
                </a:solidFill>
              </a:rPr>
              <a:t>"You mentioned your brother last week — has that conversation happened yet?"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346"/>
          </a:solidFill>
          <a:ln w="12700">
            <a:solidFill>
              <a:srgbClr val="1A33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RAG STRATEGY &amp; EMOTION INFERENCE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AFC0"/>
                </a:solidFill>
              </a:rPr>
              <a:t>Slide 4 /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4160520" cy="4251960"/>
          </a:xfrm>
          <a:prstGeom prst="rect">
            <a:avLst/>
          </a:prstGeom>
          <a:solidFill>
            <a:srgbClr val="1A3346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58368"/>
            <a:ext cx="41605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RETRIEVAL-AUGMENTED GENERATION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207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Query Rewriting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14813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User message + emotion tag + entity context → enriched query for retrieval. Removes filler, adds psychological framing.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993392"/>
            <a:ext cx="3977640" cy="0"/>
          </a:xfrm>
          <a:prstGeom prst="line">
            <a:avLst/>
          </a:prstGeom>
          <a:noFill/>
          <a:ln w="6350">
            <a:solidFill>
              <a:srgbClr val="024F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945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2167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Search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4414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Parallel dense (FAISS cosine) + sparse (BM25) retrieval from mental-health corpus. Reciprocal Rank Fusion merges ranked lists.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953512"/>
            <a:ext cx="3977640" cy="0"/>
          </a:xfrm>
          <a:prstGeom prst="line">
            <a:avLst/>
          </a:prstGeom>
          <a:noFill/>
          <a:ln w="6350">
            <a:solidFill>
              <a:srgbClr val="024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546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3127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Re-ranking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34015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Cross-encoder re-ranker scores top-20 passages for emotional relevance. Filters clichés and generic responses using a learned negativity classifier.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913632"/>
            <a:ext cx="3977640" cy="0"/>
          </a:xfrm>
          <a:prstGeom prst="line">
            <a:avLst/>
          </a:prstGeom>
          <a:noFill/>
          <a:ln w="6350">
            <a:solidFill>
              <a:srgbClr val="024F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11480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4087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 Injection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" y="43616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Top-3 passages + user memory block injected into system prompt. Source grounding ensures factual safety (crisis hotlines, real coping strategies).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658368"/>
            <a:ext cx="4297680" cy="4251960"/>
          </a:xfrm>
          <a:prstGeom prst="rect">
            <a:avLst/>
          </a:prstGeom>
          <a:solidFill>
            <a:srgbClr val="1A3346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658368"/>
            <a:ext cx="429768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6583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EMOTION INFERENCE ENGINE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09160" y="10972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Multi-Axis Emotional State Model: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1444752"/>
            <a:ext cx="4114800" cy="384048"/>
          </a:xfrm>
          <a:prstGeom prst="rect">
            <a:avLst/>
          </a:prstGeom>
          <a:solidFill>
            <a:srgbClr val="142533"/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1444752"/>
            <a:ext cx="457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Valence: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06440" y="1508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Positive ↔ Negative affect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1920240"/>
            <a:ext cx="4114800" cy="384048"/>
          </a:xfrm>
          <a:prstGeom prst="rect">
            <a:avLst/>
          </a:prstGeom>
          <a:solidFill>
            <a:srgbClr val="142533"/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1920240"/>
            <a:ext cx="457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1984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Arousal: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06440" y="19842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High activation ↔ Emotional numbness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2395728"/>
            <a:ext cx="4114800" cy="384048"/>
          </a:xfrm>
          <a:prstGeom prst="rect">
            <a:avLst/>
          </a:prstGeom>
          <a:solidFill>
            <a:srgbClr val="142533"/>
          </a:solidFill>
          <a:ln w="12700">
            <a:solidFill>
              <a:srgbClr val="E07B2A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2395728"/>
            <a:ext cx="45720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459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</a:rPr>
              <a:t>Urgency: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06440" y="24597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Safe ↔ Crisis (5-level scale)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2871216"/>
            <a:ext cx="4114800" cy="384048"/>
          </a:xfrm>
          <a:prstGeom prst="rect">
            <a:avLst/>
          </a:prstGeom>
          <a:solidFill>
            <a:srgbClr val="142533"/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2871216"/>
            <a:ext cx="457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2935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Masking: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06440" y="29352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Explicit ↔ Implicit / Sarcastic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09160" y="3383280"/>
            <a:ext cx="4114800" cy="0"/>
          </a:xfrm>
          <a:prstGeom prst="line">
            <a:avLst/>
          </a:prstGeom>
          <a:noFill/>
          <a:ln w="6350">
            <a:solidFill>
              <a:srgbClr val="024F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34564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Sarcasm &amp; Implicit Distress Handling: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09160" y="374904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Chain-of-Thought prompt instructs the LLM to first verbalize its interpretation of the emotional subtext before generating a response.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Masked signals ('It's fine', 'Whatever') trigger a re-reading pass using few-shot examples from the problem statement.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346"/>
          </a:solidFill>
          <a:ln w="12700">
            <a:solidFill>
              <a:srgbClr val="1A33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TECH STACK, SAFETY &amp; INNOVATION HIGHLIGHTS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AFC0"/>
                </a:solidFill>
              </a:rPr>
              <a:t>Slide 5 /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2788920" cy="2834640"/>
          </a:xfrm>
          <a:prstGeom prst="rect">
            <a:avLst/>
          </a:prstGeom>
          <a:solidFill>
            <a:srgbClr val="1A3346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58368"/>
            <a:ext cx="2788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583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&amp; Inference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" y="115214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078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Gemini 2.5 Flash (primary)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" y="160934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5361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Gemini 2.5 Pro (complex turns)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" y="206654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sentence-transformers (embeddings)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" y="252374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4505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BM25 + FAISS hybrid retrieval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" y="298094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9077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Cross-encoder re-ranker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658368"/>
            <a:ext cx="2788920" cy="2834640"/>
          </a:xfrm>
          <a:prstGeom prst="rect">
            <a:avLst/>
          </a:prstGeom>
          <a:solidFill>
            <a:srgbClr val="1A3346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658368"/>
            <a:ext cx="278892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6583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Memory &amp; Storage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1152144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1078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FAISS vector index (HNSW)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0128" y="1609344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15361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JSON-LD entity graph (per user)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0128" y="2066544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SQLite session log store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10128" y="2523744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24505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In-context sliding window (10 turns)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10128" y="2980944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9077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Async memory flush on session end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658368"/>
            <a:ext cx="2788920" cy="2834640"/>
          </a:xfrm>
          <a:prstGeom prst="rect">
            <a:avLst/>
          </a:prstGeom>
          <a:solidFill>
            <a:srgbClr val="1A3346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658368"/>
            <a:ext cx="27889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6583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UI &amp; Safety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81928" y="115214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1078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Streamlit / Gradio chat UI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81928" y="160934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64808" y="15361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Crisis keyword sentinel (rule-based)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81928" y="206654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Urgency classifier (5-level)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1928" y="252374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4808" y="24505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Hotline escalation card (level 4-5)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1928" y="298094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64808" y="29077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Response genericity scorer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3630168"/>
            <a:ext cx="8686800" cy="347472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630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KEY INNOVATIONS BEYOND BASIC RAG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8600" y="4069080"/>
            <a:ext cx="4206240" cy="438912"/>
          </a:xfrm>
          <a:prstGeom prst="rect">
            <a:avLst/>
          </a:prstGeom>
          <a:solidFill>
            <a:srgbClr val="142533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" y="4069080"/>
            <a:ext cx="54864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" y="41056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Emotional Vocabulary Builder: 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56616" y="42702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Guides alexithymic users to label vague feelings using branching questions.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4069080"/>
            <a:ext cx="4206240" cy="438912"/>
          </a:xfrm>
          <a:prstGeom prst="rect">
            <a:avLst/>
          </a:prstGeom>
          <a:solidFill>
            <a:srgbClr val="142533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4069080"/>
            <a:ext cx="54864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91456" y="41056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Session Continuity Probing: 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91456" y="42702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Opens sessions by referencing unresolved threads from prior conversations.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4599432"/>
            <a:ext cx="4206240" cy="438912"/>
          </a:xfrm>
          <a:prstGeom prst="rect">
            <a:avLst/>
          </a:prstGeom>
          <a:solidFill>
            <a:srgbClr val="142533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" y="4599432"/>
            <a:ext cx="54864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" y="46360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Anti-Platitude Filter: 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56616" y="48006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A learned scorer penalizes generic lines; response is regenerated if score exceeds threshold.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4599432"/>
            <a:ext cx="4206240" cy="438912"/>
          </a:xfrm>
          <a:prstGeom prst="rect">
            <a:avLst/>
          </a:prstGeom>
          <a:solidFill>
            <a:srgbClr val="142533"/>
          </a:solidFill>
          <a:ln w="12700">
            <a:solidFill>
              <a:srgbClr val="024F5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63440" y="4599432"/>
            <a:ext cx="54864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91456" y="46360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Dynamic Knowledge Corpus: 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791456" y="48006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Nightly ETL scrapes r/mentalhealth, NAMI, and CBT resources; embeddings updated automatically.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OpenAImer Track B - MindBridge Architecture</dc:title>
  <dc:subject>PptxGenJS Presentation</dc:subject>
  <dc:creator>PptxGenJS</dc:creator>
  <cp:lastModifiedBy>PptxGenJS</cp:lastModifiedBy>
  <cp:revision>1</cp:revision>
  <dcterms:created xsi:type="dcterms:W3CDTF">2026-04-07T16:20:58Z</dcterms:created>
  <dcterms:modified xsi:type="dcterms:W3CDTF">2026-04-07T16:20:58Z</dcterms:modified>
</cp:coreProperties>
</file>